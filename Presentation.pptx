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1097280"/>
            <a:ext cx="3200400" cy="320040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5303520"/>
            <a:ext cx="1828800" cy="182880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5669280"/>
            <a:ext cx="1097280" cy="109728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B82F6"/>
                </a:solidFill>
                <a:latin typeface="Calibri"/>
              </a:rPr>
              <a:t>ML End-to-End Project  ·  Kaggle Competition  ·  Régression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Trebuchet MS"/>
              </a:rPr>
              <a:t>House Price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3B82F6"/>
                </a:solidFill>
                <a:latin typeface="Trebuchet MS"/>
              </a:rPr>
              <a:t>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931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94A3B8"/>
                </a:solidFill>
                <a:latin typeface="Calibri"/>
              </a:rPr>
              <a:t>Prédiction du prix de vente de maisons à Ames, Iowa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846320"/>
            <a:ext cx="3108960" cy="822960"/>
          </a:xfrm>
          <a:prstGeom prst="rect">
            <a:avLst/>
          </a:prstGeom>
          <a:solidFill>
            <a:srgbClr val="0F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8920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3C5FD"/>
                </a:solidFill>
                <a:latin typeface="Calibri"/>
              </a:rPr>
              <a:t>Dataset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513892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rebuchet MS"/>
              </a:rPr>
              <a:t>Ames Housing · Kaggle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0560" y="4846320"/>
            <a:ext cx="3108960" cy="822960"/>
          </a:xfrm>
          <a:prstGeom prst="rect">
            <a:avLst/>
          </a:prstGeom>
          <a:solidFill>
            <a:srgbClr val="0F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48920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3C5FD"/>
                </a:solidFill>
                <a:latin typeface="Calibri"/>
              </a:rPr>
              <a:t>Auteur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513892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rebuchet MS"/>
              </a:rPr>
              <a:t>[Votre Nom]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4846320"/>
            <a:ext cx="3108960" cy="822960"/>
          </a:xfrm>
          <a:prstGeom prst="rect">
            <a:avLst/>
          </a:prstGeom>
          <a:solidFill>
            <a:srgbClr val="0F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48920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3C5FD"/>
                </a:solidFill>
                <a:latin typeface="Calibri"/>
              </a:rPr>
              <a:t>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5138928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rebuchet MS"/>
              </a:rPr>
              <a:t>Avril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rebuchet MS"/>
              </a:rPr>
              <a:t>Plan de la Présentation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548640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1" y="1691639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Trebuchet MS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463039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929"/>
                </a:solidFill>
                <a:latin typeface="Trebuchet MS"/>
              </a:rPr>
              <a:t>Contexte &amp; Problématique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196596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Définition de l'objectif ML et business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548640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73952" y="1691639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Trebuchet M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463039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929"/>
                </a:solidFill>
                <a:latin typeface="Trebuchet MS"/>
              </a:rPr>
              <a:t>Analyse Exploratoire (EDA)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196596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Distribution, corrélations, valeurs manquantes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971800"/>
            <a:ext cx="548640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1" y="338328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Trebuchet MS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315468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929"/>
                </a:solidFill>
                <a:latin typeface="Trebuchet MS"/>
              </a:rPr>
              <a:t>Preprocessing &amp; Feature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365760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Pipeline de nettoyage + 11 nouvelles features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97180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0" y="2971800"/>
            <a:ext cx="548640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73952" y="338328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Trebuchet MS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315468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929"/>
                </a:solidFill>
                <a:latin typeface="Trebuchet MS"/>
              </a:rPr>
              <a:t>Modélisation — 5 Algorithmes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65760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Ridge, Lasso, DTree, RandomForest, GradientBoosting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66344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4663440"/>
            <a:ext cx="548640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1" y="507492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Trebuchet MS"/>
              </a:rPr>
              <a:t>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484632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929"/>
                </a:solidFill>
                <a:latin typeface="Trebuchet MS"/>
              </a:rPr>
              <a:t>Résultats &amp; Optimisation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25880" y="534924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RandomizedSearchCV + Feature Importance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4663440"/>
            <a:ext cx="539496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4663440"/>
            <a:ext cx="548640" cy="1463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5074920"/>
            <a:ext cx="548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Trebuchet MS"/>
              </a:rPr>
              <a:t>06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484632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929"/>
                </a:solidFill>
                <a:latin typeface="Trebuchet MS"/>
              </a:rPr>
              <a:t>Conclusion &amp; Perspectives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5349240"/>
            <a:ext cx="4480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Bilan et pistes d'amélioration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rebuchet MS"/>
              </a:rPr>
              <a:t>01 — Contexte &amp; Problématique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11247120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54864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2344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Trebuchet MS"/>
              </a:rPr>
              <a:t>❓ Problématique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B1929"/>
                </a:solidFill>
                <a:latin typeface="Calibri"/>
              </a:rPr>
              <a:t>Étant données les 80 caractéristiques d'une maison (surface, qualité, localisation, âge...),
prédir son prix de vente avec la meilleure précision possible.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338328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283464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Trebuchet MS"/>
              </a:rPr>
              <a:t>1,460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566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BEAFE"/>
                </a:solidFill>
                <a:latin typeface="Calibri"/>
              </a:rPr>
              <a:t>Maisons (train)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651760"/>
            <a:ext cx="3383280" cy="13716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Trebuchet MS"/>
              </a:rPr>
              <a:t>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566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BEAFE"/>
                </a:solidFill>
                <a:latin typeface="Calibri"/>
              </a:rPr>
              <a:t>Features d'origine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59" y="2651760"/>
            <a:ext cx="3383280" cy="13716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9" y="283464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Trebuchet MS"/>
              </a:rPr>
              <a:t>$163K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39" y="35661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DBEAFE"/>
                </a:solidFill>
                <a:latin typeface="Calibri"/>
              </a:rPr>
              <a:t>Prix médian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51960"/>
            <a:ext cx="11247120" cy="1371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4748B"/>
                </a:solidFill>
                <a:latin typeface="Trebuchet MS"/>
              </a:rPr>
              <a:t>Type de problème 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634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B1929"/>
                </a:solidFill>
                <a:latin typeface="Trebuchet MS"/>
              </a:rPr>
              <a:t>Régression supervisée — variable cible continue (SalePrice en $)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166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Source : Kaggle — House Prices: Advanced Regression Techniques  |  Dean De Cock, 2011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rebuchet MS"/>
              </a:rPr>
              <a:t>02 — Analyse Exploratoire des Données (EDA)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548640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80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929"/>
                </a:solidFill>
                <a:latin typeface="Trebuchet MS"/>
              </a:rPr>
              <a:t>Distribution de SalePrice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64208"/>
            <a:ext cx="51206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→ Skewed à droite (skewness = 1.88)
→ Après log1p : skewness = 0.12 ✅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712464"/>
            <a:ext cx="237744" cy="12801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15568" y="3584448"/>
            <a:ext cx="237744" cy="25603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08176" y="3392424"/>
            <a:ext cx="237744" cy="44805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00784" y="3136392"/>
            <a:ext cx="237744" cy="7040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993392" y="2816352"/>
            <a:ext cx="237744" cy="102412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86000" y="2560320"/>
            <a:ext cx="237744" cy="1280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78608" y="2432304"/>
            <a:ext cx="237744" cy="14081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71216" y="2496312"/>
            <a:ext cx="237744" cy="1344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63824" y="2688336"/>
            <a:ext cx="237744" cy="115214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56432" y="2944368"/>
            <a:ext cx="237744" cy="896111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749040" y="3136392"/>
            <a:ext cx="237744" cy="7040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041648" y="3328416"/>
            <a:ext cx="237744" cy="512063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34256" y="3520440"/>
            <a:ext cx="237744" cy="3200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26864" y="3648456"/>
            <a:ext cx="237744" cy="19202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919472" y="3712464"/>
            <a:ext cx="237744" cy="128015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12080" y="3744468"/>
            <a:ext cx="237744" cy="960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04688" y="3776472"/>
            <a:ext cx="237744" cy="64007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1832" y="3776472"/>
            <a:ext cx="118872" cy="64007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234440" y="3648456"/>
            <a:ext cx="118872" cy="19202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527048" y="3392424"/>
            <a:ext cx="118872" cy="448055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19655" y="2944368"/>
            <a:ext cx="118872" cy="896111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112264" y="2624328"/>
            <a:ext cx="118872" cy="1216151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404872" y="2432304"/>
            <a:ext cx="118872" cy="14081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697479" y="2432304"/>
            <a:ext cx="118872" cy="1408176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990088" y="2560320"/>
            <a:ext cx="118872" cy="12801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282696" y="2688336"/>
            <a:ext cx="118872" cy="115214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575303" y="2880360"/>
            <a:ext cx="118872" cy="960119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867912" y="3136392"/>
            <a:ext cx="118872" cy="704088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60520" y="3328416"/>
            <a:ext cx="118872" cy="512063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53128" y="3520440"/>
            <a:ext cx="118872" cy="320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745736" y="3648456"/>
            <a:ext cx="118872" cy="192024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38344" y="3712464"/>
            <a:ext cx="118872" cy="128015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30952" y="3776472"/>
            <a:ext cx="118872" cy="64007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23560" y="3776472"/>
            <a:ext cx="118872" cy="64007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397763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Distribution originale (bleu)  vs  log1p (vert)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38912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929"/>
                </a:solidFill>
                <a:latin typeface="Trebuchet MS"/>
              </a:rPr>
              <a:t>Top Corrélations avec SalePrice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48006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OverallQual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0" y="4837176"/>
            <a:ext cx="3254806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43726" y="48006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929"/>
                </a:solidFill>
                <a:latin typeface="Trebuchet MS"/>
              </a:rPr>
              <a:t>0.791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1206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GrLivArea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0" y="5157216"/>
            <a:ext cx="2917393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706313" y="512064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929"/>
                </a:solidFill>
                <a:latin typeface="Trebuchet MS"/>
              </a:rPr>
              <a:t>0.709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" y="544068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GarageCars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0" y="5477256"/>
            <a:ext cx="2633472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22392" y="544068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929"/>
                </a:solidFill>
                <a:latin typeface="Trebuchet MS"/>
              </a:rPr>
              <a:t>0.640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" y="57607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TotalBsmtSF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0" y="5797296"/>
            <a:ext cx="2526487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15407" y="57607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B1929"/>
                </a:solidFill>
                <a:latin typeface="Trebuchet MS"/>
              </a:rPr>
              <a:t>0.614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1188720"/>
            <a:ext cx="5486400" cy="5394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83680" y="128016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929"/>
                </a:solidFill>
                <a:latin typeface="Trebuchet MS"/>
              </a:rPr>
              <a:t>Valeurs Manquantes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83680" y="166420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19 colonnes affectées — stratégie contextuelle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83680" y="21031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PoolQC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2167127"/>
            <a:ext cx="4094226" cy="228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2552426" y="21031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Trebuchet MS"/>
              </a:rPr>
              <a:t>99.5%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583680" y="2606039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MiscFeature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670047"/>
            <a:ext cx="3962552" cy="228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420752" y="2606039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Trebuchet MS"/>
              </a:rPr>
              <a:t>96.3%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83680" y="310896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Alley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412480" y="3172968"/>
            <a:ext cx="3859682" cy="228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2317882" y="310896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Trebuchet MS"/>
              </a:rPr>
              <a:t>93.8%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83680" y="361188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Fence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12480" y="3675888"/>
            <a:ext cx="3324758" cy="2286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1782958" y="3611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C2626"/>
                </a:solidFill>
                <a:latin typeface="Trebuchet MS"/>
              </a:rPr>
              <a:t>80.8%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83680" y="411480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FireplaceQu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12480" y="4178808"/>
            <a:ext cx="1946300" cy="228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404500" y="411480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563EB"/>
                </a:solidFill>
                <a:latin typeface="Trebuchet MS"/>
              </a:rPr>
              <a:t>47.3%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83680" y="4617720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LotFrontage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412480" y="4681728"/>
            <a:ext cx="728319" cy="2286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186519" y="46177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6A34A"/>
                </a:solidFill>
                <a:latin typeface="Trebuchet MS"/>
              </a:rPr>
              <a:t>17.7%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83680" y="5166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929"/>
                </a:solidFill>
                <a:latin typeface="Trebuchet MS"/>
              </a:rPr>
              <a:t>Insights Clés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583680" y="5577840"/>
            <a:ext cx="164592" cy="228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0" y="55504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OverallQual (r=0.79) &gt; surface habitable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583680" y="5943600"/>
            <a:ext cx="164592" cy="228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858000" y="591616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NaN PoolQC/Alley = absence, pas manquant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83680" y="6309359"/>
            <a:ext cx="164592" cy="228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858000" y="628192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Neighborhood très discriminant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rebuchet MS"/>
              </a:rPr>
              <a:t>03 — Preprocessing &amp; Feature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246888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26187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rebuchet MS"/>
              </a:rPr>
              <a:t>Imputation
Missing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783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BEAFE"/>
                </a:solidFill>
                <a:latin typeface="Calibri"/>
              </a:rPr>
              <a:t>Contextuelle
(None/médiane/mode)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6916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563EB"/>
                </a:solidFill>
                <a:latin typeface="Trebuchet MS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1188720"/>
            <a:ext cx="2468880" cy="13716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38728" y="126187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rebuchet MS"/>
              </a:rPr>
              <a:t>Encodage
Ordinal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1783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BEAFE"/>
                </a:solidFill>
                <a:latin typeface="Calibri"/>
              </a:rPr>
              <a:t>Ex→5 Gd→4
TA→3 Fa→2 Po→1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79" y="16916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563EB"/>
                </a:solidFill>
                <a:latin typeface="Trebuchet MS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188720"/>
            <a:ext cx="2468880" cy="1371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26187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rebuchet MS"/>
              </a:rPr>
              <a:t>One-Hot
Encoding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1783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BEAFE"/>
                </a:solidFill>
                <a:latin typeface="Calibri"/>
              </a:rPr>
              <a:t>Variables
nominales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169164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563EB"/>
                </a:solidFill>
                <a:latin typeface="Trebuchet MS"/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39" y="1188720"/>
            <a:ext cx="2468880" cy="137160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16567" y="1261872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Trebuchet MS"/>
              </a:rPr>
              <a:t>Standard
Scaler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16567" y="1783080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DBEAFE"/>
                </a:solidFill>
                <a:latin typeface="Calibri"/>
              </a:rPr>
              <a:t>Centrage-
réduction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2834640"/>
            <a:ext cx="11247120" cy="41148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289864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Trebuchet MS"/>
              </a:rPr>
              <a:t>✦  11 Nouvelles Features Créées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429000"/>
            <a:ext cx="5486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3429000"/>
            <a:ext cx="54864" cy="566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3483864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929"/>
                </a:solidFill>
                <a:latin typeface="Trebuchet MS"/>
              </a:rPr>
              <a:t>TotalSF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34639" y="3520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TotalBsmtSF + 1stFlrSF + 2ndFlrSF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3429000"/>
            <a:ext cx="5486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0" y="3429000"/>
            <a:ext cx="54864" cy="566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3483864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929"/>
                </a:solidFill>
                <a:latin typeface="Trebuchet MS"/>
              </a:rPr>
              <a:t>TotalBathrooms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3520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FullBath + 0.5×HalfBath + ...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087368"/>
            <a:ext cx="5486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4087368"/>
            <a:ext cx="54864" cy="566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4142231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929"/>
                </a:solidFill>
                <a:latin typeface="Trebuchet MS"/>
              </a:rPr>
              <a:t>HouseAge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34639" y="4178807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YrSold − YearBuilt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0" y="4087368"/>
            <a:ext cx="5486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0" y="4087368"/>
            <a:ext cx="54864" cy="566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142231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929"/>
                </a:solidFill>
                <a:latin typeface="Trebuchet MS"/>
              </a:rPr>
              <a:t>RemodAge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4178807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YrSold − YearRemodAdd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4745736"/>
            <a:ext cx="5486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4745736"/>
            <a:ext cx="54864" cy="566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59" y="48005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929"/>
                </a:solidFill>
                <a:latin typeface="Trebuchet MS"/>
              </a:rPr>
              <a:t>HasPool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34639" y="4837175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PoolArea &gt; 0 → binaire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4745736"/>
            <a:ext cx="5486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4745736"/>
            <a:ext cx="54864" cy="566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4800599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929"/>
                </a:solidFill>
                <a:latin typeface="Trebuchet MS"/>
              </a:rPr>
              <a:t>HasGarage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4837175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GarageArea &gt; 0 → binaire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" y="5404104"/>
            <a:ext cx="5486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" y="5404104"/>
            <a:ext cx="54864" cy="566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" y="54589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929"/>
                </a:solidFill>
                <a:latin typeface="Trebuchet MS"/>
              </a:rPr>
              <a:t>HasBasement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39" y="549554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TotalBsmtSF &gt; 0 → binaire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5404104"/>
            <a:ext cx="5486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0" y="5404104"/>
            <a:ext cx="54864" cy="566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54589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929"/>
                </a:solidFill>
                <a:latin typeface="Trebuchet MS"/>
              </a:rPr>
              <a:t>HasFireplace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595360" y="5495544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Fireplaces &gt; 0 → binaire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6062472"/>
            <a:ext cx="5486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6062472"/>
            <a:ext cx="54864" cy="566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22959" y="611733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929"/>
                </a:solidFill>
                <a:latin typeface="Trebuchet MS"/>
              </a:rPr>
              <a:t>Remodeled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834639" y="615391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YearBuilt ≠ YearRemodAdd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00800" y="6062472"/>
            <a:ext cx="5486400" cy="56692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00800" y="6062472"/>
            <a:ext cx="54864" cy="5669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6117336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929"/>
                </a:solidFill>
                <a:latin typeface="Trebuchet MS"/>
              </a:rPr>
              <a:t>QualitySF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95360" y="6153912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4748B"/>
                </a:solidFill>
                <a:latin typeface="Calibri"/>
              </a:rPr>
              <a:t>OverallQual × GrLivArea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0080" y="6126480"/>
            <a:ext cx="11247120" cy="54864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2960" y="619963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6A34A"/>
                </a:solidFill>
                <a:latin typeface="Trebuchet MS"/>
              </a:rPr>
              <a:t>Résultat : 80 features originales → 91 features finales après preprocessing et feature engineering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rebuchet MS"/>
              </a:rPr>
              <a:t>04 — Modélisation — 5 Algorithmes Comparés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3200400" cy="41148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19" y="123444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rebuchet MS"/>
              </a:rPr>
              <a:t>Modèle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1188720"/>
            <a:ext cx="2103120" cy="41148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1234440"/>
            <a:ext cx="20116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rebuchet MS"/>
              </a:rPr>
              <a:t>Famille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188720"/>
            <a:ext cx="2286000" cy="41148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0" y="1234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rebuchet MS"/>
              </a:rPr>
              <a:t>CV RMSE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1188720"/>
            <a:ext cx="2286000" cy="41148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2344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rebuchet MS"/>
              </a:rPr>
              <a:t>R² Score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0" y="1188720"/>
            <a:ext cx="914400" cy="41148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07040" y="123444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Trebuchet MS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1600200"/>
            <a:ext cx="32004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40480" y="1600200"/>
            <a:ext cx="210312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0" y="1600200"/>
            <a:ext cx="2286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600200"/>
            <a:ext cx="2286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515600" y="1600200"/>
            <a:ext cx="9144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8" y="17830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1929"/>
                </a:solidFill>
                <a:latin typeface="Calibri"/>
              </a:rPr>
              <a:t>Ridge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50208" y="1783080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Linéaire L2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53328" y="1783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>0.135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17830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>0.865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25328" y="178308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1920240"/>
            <a:ext cx="1740103" cy="2286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2423160"/>
            <a:ext cx="32004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840480" y="2423160"/>
            <a:ext cx="210312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943600" y="2423160"/>
            <a:ext cx="2286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9600" y="2423160"/>
            <a:ext cx="2286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515600" y="2423160"/>
            <a:ext cx="9144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9808" y="26060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1929"/>
                </a:solidFill>
                <a:latin typeface="Calibri"/>
              </a:rPr>
              <a:t>Lasso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50208" y="2606040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Linéaire L1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53328" y="2606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>0.130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7" y="260604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>0.871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625328" y="260604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/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2743200"/>
            <a:ext cx="1752173" cy="2286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3246120"/>
            <a:ext cx="32004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840480" y="3246120"/>
            <a:ext cx="210312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43600" y="3246120"/>
            <a:ext cx="2286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9600" y="3246120"/>
            <a:ext cx="2286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15600" y="3246120"/>
            <a:ext cx="9144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9808" y="3429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1929"/>
                </a:solidFill>
                <a:latin typeface="Calibri"/>
              </a:rPr>
              <a:t>Decision Tree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50208" y="3429000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Arbre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53328" y="3429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>0.201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39327" y="342900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>0.762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25328" y="342900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/>
            </a:r>
          </a:p>
        </p:txBody>
      </p:sp>
      <p:sp>
        <p:nvSpPr>
          <p:cNvPr id="48" name="Rectangle 47"/>
          <p:cNvSpPr/>
          <p:nvPr/>
        </p:nvSpPr>
        <p:spPr>
          <a:xfrm>
            <a:off x="8321040" y="3566160"/>
            <a:ext cx="1532900" cy="2286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0080" y="4069080"/>
            <a:ext cx="32004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840480" y="4069080"/>
            <a:ext cx="210312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943600" y="4069080"/>
            <a:ext cx="2286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29600" y="4069080"/>
            <a:ext cx="2286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515600" y="4069080"/>
            <a:ext cx="9144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9808" y="42519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0B1929"/>
                </a:solidFill>
                <a:latin typeface="Calibri"/>
              </a:rPr>
              <a:t>Random Forest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950208" y="4251960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Bagging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53328" y="42519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>0.138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39327" y="42519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>0.872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25328" y="425196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/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4389120"/>
            <a:ext cx="1754184" cy="2286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0080" y="4892040"/>
            <a:ext cx="3200400" cy="7315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3840480" y="4892040"/>
            <a:ext cx="2103120" cy="7315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43600" y="4892040"/>
            <a:ext cx="2286000" cy="7315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229600" y="4892040"/>
            <a:ext cx="2286000" cy="7315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10515600" y="4892040"/>
            <a:ext cx="914400" cy="731520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49808" y="50749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929"/>
                </a:solidFill>
                <a:latin typeface="Trebuchet MS"/>
              </a:rPr>
              <a:t>Gradient Boosting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950208" y="5074920"/>
            <a:ext cx="19202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Boosting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53328" y="50749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C2626"/>
                </a:solidFill>
                <a:latin typeface="Trebuchet MS"/>
              </a:rPr>
              <a:t>0.118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339327" y="507492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563EB"/>
                </a:solidFill>
                <a:latin typeface="Trebuchet MS"/>
              </a:rPr>
              <a:t>0.905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625328" y="5074920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0B1929"/>
                </a:solidFill>
                <a:latin typeface="Calibri"/>
              </a:rPr>
              <a:t>🏆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321040" y="5212079"/>
            <a:ext cx="1820570" cy="228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" y="58978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4748B"/>
                </a:solidFill>
                <a:latin typeface="Calibri"/>
              </a:rPr>
              <a:t>Target : log1p(SalePrice)  ·  Validation croisée 5-fold  ·  Split 80/20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" y="6217920"/>
            <a:ext cx="11247120" cy="45720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2960" y="62819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Trebuchet MS"/>
              </a:rPr>
              <a:t>✅  Gradient Boosting sélectionné comme meilleur modèle → optimisation RandomizedSearchCV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Trebuchet MS"/>
              </a:rPr>
              <a:t>05 — Résultats &amp; Optimisation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188720"/>
            <a:ext cx="3383280" cy="12801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61872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Trebuchet MS"/>
              </a:rPr>
              <a:t>0.905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0116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R² Score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188720"/>
            <a:ext cx="3383280" cy="1280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1261872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Trebuchet MS"/>
              </a:rPr>
              <a:t>0.118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0116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CV RMSE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59" y="1188720"/>
            <a:ext cx="3383280" cy="12801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261872"/>
            <a:ext cx="33832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  <a:latin typeface="Trebuchet MS"/>
              </a:rPr>
              <a:t>0.8%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59" y="201168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Gain Optim.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539496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816352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929"/>
                </a:solidFill>
                <a:latin typeface="Trebuchet MS"/>
              </a:rPr>
              <a:t>Hyperparamètres Optimaux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337560"/>
            <a:ext cx="484632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341071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n_estimators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41071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563EB"/>
                </a:solidFill>
                <a:latin typeface="Trebuchet MS"/>
              </a:rPr>
              <a:t>300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813048"/>
            <a:ext cx="484632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38862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learning_rate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38862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563EB"/>
                </a:solidFill>
                <a:latin typeface="Trebuchet MS"/>
              </a:rPr>
              <a:t>0.05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88536"/>
            <a:ext cx="484632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" y="436168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max_depth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36168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563EB"/>
                </a:solidFill>
                <a:latin typeface="Trebuchet MS"/>
              </a:rPr>
              <a:t>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764024"/>
            <a:ext cx="484632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8371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subsample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0" y="483717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563EB"/>
                </a:solidFill>
                <a:latin typeface="Trebuchet MS"/>
              </a:rPr>
              <a:t>0.8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239512"/>
            <a:ext cx="484632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" y="53126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min_samples_split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531266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563EB"/>
                </a:solidFill>
                <a:latin typeface="Trebuchet MS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715000"/>
            <a:ext cx="4846320" cy="384048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60120" y="57881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4748B"/>
                </a:solidFill>
                <a:latin typeface="Calibri"/>
              </a:rPr>
              <a:t>max_features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0" y="578815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563EB"/>
                </a:solidFill>
                <a:latin typeface="Trebuchet MS"/>
              </a:rPr>
              <a:t>0.5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62636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64748B"/>
                </a:solidFill>
                <a:latin typeface="Calibri"/>
              </a:rPr>
              <a:t>RandomizedSearchCV · 40 itérations · 5-Fold CV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2743200"/>
            <a:ext cx="5577840" cy="3840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816352"/>
            <a:ext cx="5212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B1929"/>
                </a:solidFill>
                <a:latin typeface="Trebuchet MS"/>
              </a:rPr>
              <a:t>Feature Importance — Top 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92240" y="334670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B1929"/>
                </a:solidFill>
                <a:latin typeface="Trebuchet MS"/>
              </a:rPr>
              <a:t>OverallQual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503920" y="3374136"/>
            <a:ext cx="3635654" cy="228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2203582" y="3346704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B1929"/>
                </a:solidFill>
                <a:latin typeface="Trebuchet MS"/>
              </a:rPr>
              <a:t>14.2%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92240" y="37490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B1929"/>
                </a:solidFill>
                <a:latin typeface="Trebuchet MS"/>
              </a:rPr>
              <a:t>TotalSF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03920" y="3776472"/>
            <a:ext cx="3021177" cy="228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589105" y="374904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B1929"/>
                </a:solidFill>
                <a:latin typeface="Trebuchet MS"/>
              </a:rPr>
              <a:t>11.8%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415137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B1929"/>
                </a:solidFill>
                <a:latin typeface="Trebuchet MS"/>
              </a:rPr>
              <a:t>GrLivArea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0" y="4178808"/>
            <a:ext cx="2509113" cy="228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077041" y="4151376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B1929"/>
                </a:solidFill>
                <a:latin typeface="Trebuchet MS"/>
              </a:rPr>
              <a:t>9.8%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53712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929"/>
                </a:solidFill>
                <a:latin typeface="Calibri"/>
              </a:rPr>
              <a:t>QualitySF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4581144"/>
            <a:ext cx="2099462" cy="2286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667390" y="4553712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B1929"/>
                </a:solidFill>
                <a:latin typeface="Trebuchet MS"/>
              </a:rPr>
              <a:t>8.2%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92240" y="4956048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929"/>
                </a:solidFill>
                <a:latin typeface="Calibri"/>
              </a:rPr>
              <a:t>YearBuilt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503920" y="4983480"/>
            <a:ext cx="1817827" cy="2286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385755" y="4956048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B1929"/>
                </a:solidFill>
                <a:latin typeface="Trebuchet MS"/>
              </a:rPr>
              <a:t>7.1%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5358384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929"/>
                </a:solidFill>
                <a:latin typeface="Calibri"/>
              </a:rPr>
              <a:t>GarageCars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503920" y="5385816"/>
            <a:ext cx="1484985" cy="2286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2913" y="5358384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B1929"/>
                </a:solidFill>
                <a:latin typeface="Trebuchet MS"/>
              </a:rPr>
              <a:t>5.8%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92240" y="576072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929"/>
                </a:solidFill>
                <a:latin typeface="Calibri"/>
              </a:rPr>
              <a:t>TotalBsmtSF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503920" y="5788152"/>
            <a:ext cx="1331366" cy="2286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899294" y="5760720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B1929"/>
                </a:solidFill>
                <a:latin typeface="Trebuchet MS"/>
              </a:rPr>
              <a:t>5.2%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6163056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0B1929"/>
                </a:solidFill>
                <a:latin typeface="Calibri"/>
              </a:rPr>
              <a:t>KitchenQual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503920" y="6190488"/>
            <a:ext cx="1203350" cy="228600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771278" y="6163056"/>
            <a:ext cx="548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B1929"/>
                </a:solidFill>
                <a:latin typeface="Trebuchet MS"/>
              </a:rPr>
              <a:t>4.7%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9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0" y="731520"/>
            <a:ext cx="3657600" cy="365760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81360" y="4572000"/>
            <a:ext cx="2011680" cy="201168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5943600"/>
            <a:ext cx="1371600" cy="1371600"/>
          </a:xfrm>
          <a:prstGeom prst="ellipse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3B82F6"/>
                </a:solidFill>
                <a:latin typeface="Calibri"/>
              </a:rPr>
              <a:t>06 — 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9144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Trebuchet MS"/>
              </a:rPr>
              <a:t>Bilan &amp; Perspectives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920240"/>
            <a:ext cx="5029200" cy="73152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1920240"/>
            <a:ext cx="54864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199339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Trebuchet MS"/>
              </a:rPr>
              <a:t>R² = 0.905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0116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 modèle explique 90.5% de la variance du prix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834640"/>
            <a:ext cx="5029200" cy="73152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834640"/>
            <a:ext cx="54864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907792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Trebuchet MS"/>
              </a:rPr>
              <a:t>RMSE = 0.118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2926080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Erreur typique ≈ ±$12,000 sur un prix médian de $163K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5029200" cy="731520"/>
          </a:xfrm>
          <a:prstGeom prst="rect">
            <a:avLst/>
          </a:prstGeom>
          <a:solidFill>
            <a:srgbClr val="1A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54864" cy="7315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22191"/>
            <a:ext cx="1920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3B82F6"/>
                </a:solidFill>
                <a:latin typeface="Trebuchet MS"/>
              </a:rPr>
              <a:t>5 modèles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840479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Comparaison rigoureuse avec cross-validation 5-fold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16459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Trebuchet MS"/>
              </a:rPr>
              <a:t>Pistes d'Amélioration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2240280"/>
            <a:ext cx="201168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220370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Tester XGBoost / LightGBM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834640"/>
            <a:ext cx="201168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279806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Stacking de modèles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429000"/>
            <a:ext cx="201168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33924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Target Encoding pour Neighborhood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4023360"/>
            <a:ext cx="201168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398678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Supprimer les outliers extrêmes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92240" y="4617720"/>
            <a:ext cx="201168" cy="2011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458114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  <a:latin typeface="Calibri"/>
              </a:rPr>
              <a:t>Créer plus de features d'interaction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373368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House Price Prediction — Ames Housing Dataset  ·  [Votre Nom]  ·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