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603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MACHINE LEARNING · AVRIL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House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2563EB"/>
                </a:solidFill>
              </a:rP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Prédiction du prix de vente de maisons · Ames, Iowa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Pipeline End-to-End : EDA → Preprocessing → Feature Engineering → 3 Modèles → Optimisation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54880"/>
            <a:ext cx="4572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[Votre Nom] · Machine Learning · [Institution]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5029200"/>
            <a:ext cx="2286000" cy="12801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51663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6A34A"/>
                </a:solidFill>
              </a:rPr>
              <a:t>0.905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806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R²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474720"/>
            <a:ext cx="2286000" cy="12801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6118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563EB"/>
                </a:solidFill>
              </a:rPr>
              <a:t>1 460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Maisons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Problématique &amp;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5303520" cy="530352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❓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Étant données les 80 caractéristiques d'une maison (surface, qualité, localisation, âge, équipements…), prédire son prix de vente final avec la meilleure précision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Type de Problème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▸  Régression supervisée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▸  Target : SalePrice (en $)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867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▸  Métrique principale : R² + RMSE (log)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🔁 Approche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  ▸  Transformation log1p de la target (normalise la distribution)
  ▸  5 modèles testés → 3 retenus
  ▸  Optimisation RandomizedSearchCV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486400" cy="530352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</a:rPr>
              <a:t>📊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Kaggle — House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591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Auteur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591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Dean De Cock (2011)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352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352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1 460 maisons × 81 colonnes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112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112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1 459 maisons × 80 colonnes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873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873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SalePrice (prix de vente $)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 variables (num. + catég.)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395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Manquantes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239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19 colonnes avec NaN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Pipeline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5212080" cy="15087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" y="1444752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44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EDA &amp;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8308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Distribution, corrélations, valeurs manquantes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80360"/>
            <a:ext cx="5212080" cy="15087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136392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063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Imputation contextuelle, médiane,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72000"/>
            <a:ext cx="5212080" cy="15087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" y="4828032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828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548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16636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11 nouvelles features créées (TotalSF, QualitySF…)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5212080" cy="15087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1444752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4447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3716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Encodage &amp;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78308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Ordinal + One-Hot + StandardScaler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880360"/>
            <a:ext cx="5212080" cy="15087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73952" y="3136392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63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Modélisation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47472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5 modèles testés → 3 retenus (drafts pour 2 écartés)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572000"/>
            <a:ext cx="5212080" cy="15087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73952" y="4828032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82803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7548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Optimisation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5166360"/>
            <a:ext cx="4297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RandomizedSearchCV · 40 iter · 5-Fold CV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11 nouvelles features créées pour améliorer les performances des modèles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572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201168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63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475488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4630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Description / Calcul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463040"/>
            <a:ext cx="109728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4630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Rang Imp.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463040"/>
            <a:ext cx="109728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14630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Importance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10512"/>
            <a:ext cx="10561320" cy="42976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8836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TotalSF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88366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TotalBsmtSF + 1stFlrSF + 2ndFlrSF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836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836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11.8%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240280"/>
            <a:ext cx="10561320" cy="429768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3134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QualitySF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31343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OverallQual × GrLivArea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3134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3134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8.2%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670048"/>
            <a:ext cx="10561320" cy="42976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7432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TotalBathrooms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7432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Somme pondérée des salles de bain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7432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Top10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7432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099816"/>
            <a:ext cx="10561320" cy="429768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31729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HouseAge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1729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YrSold − YearBuilt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172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Top10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1729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529584"/>
            <a:ext cx="10561320" cy="42976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6027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RemodAge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360273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YrSold − YearRemodAdd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6027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Top15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60273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3959352"/>
            <a:ext cx="10561320" cy="429768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4032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HasPool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40325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Binaire : présence de piscine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0325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0325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389120"/>
            <a:ext cx="10561320" cy="42976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44622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HasGarage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44622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Binaire : présence de garage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4622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4622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4818888"/>
            <a:ext cx="10561320" cy="429768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4892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HasBasement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640" y="48920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Binaire : présence de sous-sol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8920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8920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5248656"/>
            <a:ext cx="10561320" cy="42976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53218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HasFireplace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53218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Binaire : présence de cheminée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5321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321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5678424"/>
            <a:ext cx="10561320" cy="429768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952" y="57515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Remodeled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57515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Binaire : rénovation effectuée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575157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575157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6108192"/>
            <a:ext cx="10561320" cy="42976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8952" y="61813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NeighScore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618134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Score qualitatif du quartier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61813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Top15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61813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Comparaison des Modèles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3 modèles retenus sur 5 testés · 2 écartés documentés dans les notebooks de brouillon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486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320040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463040"/>
            <a:ext cx="228600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Famille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164592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CV RMSE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463040"/>
            <a:ext cx="164592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 R²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1463040"/>
            <a:ext cx="1645920" cy="4114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 MAE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874520"/>
            <a:ext cx="10424160" cy="777240"/>
          </a:xfrm>
          <a:prstGeom prst="rect">
            <a:avLst/>
          </a:prstGeom>
          <a:solidFill>
            <a:srgbClr val="0A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1874520"/>
            <a:ext cx="54864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0574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🚀 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0574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Ensemble ·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574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20574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</a:rPr>
              <a:t>0.905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0574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0.082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🏆 BEST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651760"/>
            <a:ext cx="10424160" cy="77724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834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📐 Lasso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8346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Linéaire · L1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346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0.130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8346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0.871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8346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0.090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0424160" cy="77724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611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🌲 Random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36118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Ensemble · Bagging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611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0.138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3611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0.872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6118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0.094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977639"/>
            <a:ext cx="11064240" cy="2560320"/>
          </a:xfrm>
          <a:prstGeom prst="rect">
            <a:avLst/>
          </a:prstGeom>
          <a:solidFill>
            <a:srgbClr val="1A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977639"/>
            <a:ext cx="54864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0965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⚠️  Modèles Écartés — Documentés dans notebooks/drafts/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26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❌  Ridge Regression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CV RMSE=0.135 · R²=0.865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526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Lasso meilleur : sélection automatique de features + R² supérieur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❌  Decision Tree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CV RMSE=0.201 · R²=0.762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5257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BBF24"/>
                </a:solidFill>
              </a:rPr>
              <a:t>Overfitting sévère · R² insuffisant (0.762) · CV RMSE = 0.201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Résultats Finaux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Gradient Boosting optimisé · RandomizedSearchCV · 5-Fold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2743200" cy="137160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6A34A"/>
                </a:solidFill>
              </a:rPr>
              <a:t>0.905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R²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417320"/>
            <a:ext cx="2743200" cy="137160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563EB"/>
                </a:solidFill>
              </a:rPr>
              <a:t>0.118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CV RMSE (log)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417320"/>
            <a:ext cx="2743200" cy="137160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563EB"/>
                </a:solidFill>
              </a:rPr>
              <a:t>0.118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Val 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417320"/>
            <a:ext cx="2743200" cy="137160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5087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D97706"/>
                </a:solidFill>
              </a:rPr>
              <a:t>0.082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Val MAE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26080"/>
            <a:ext cx="5486400" cy="35661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🔑 Feature Importance (Top 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OverallQual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657600"/>
            <a:ext cx="27432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72" y="35661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14.2%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23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TotalSF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4114800"/>
            <a:ext cx="227956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4432" y="40233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11.8%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80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GrLivArea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4572000"/>
            <a:ext cx="1893194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8066" y="4480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9.8%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QualitySF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5029200"/>
            <a:ext cx="1584101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88973" y="4937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8.2%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394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YearBuilt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5486400"/>
            <a:ext cx="1371600" cy="2011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6472" y="53949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7.1%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852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GarageCars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5943600"/>
            <a:ext cx="1120461" cy="2011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5333" y="58521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</a:rPr>
              <a:t>5.8%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926080"/>
            <a:ext cx="5486400" cy="35661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Hyperparamètres Optimaux (GB)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3566160"/>
            <a:ext cx="5120640" cy="365760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611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n_estimators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611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300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023360"/>
            <a:ext cx="5120640" cy="365760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0690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learning_rate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4069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0.05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4480560"/>
            <a:ext cx="5120640" cy="365760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4526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max_depth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526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4937760"/>
            <a:ext cx="5120640" cy="365760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4983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subsample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983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0.8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5394960"/>
            <a:ext cx="5120640" cy="365760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5440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min_samples_split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5440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5852160"/>
            <a:ext cx="5120640" cy="365760"/>
          </a:xfrm>
          <a:prstGeom prst="rect">
            <a:avLst/>
          </a:prstGeom>
          <a:solidFill>
            <a:srgbClr val="08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5897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max_features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897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563EB"/>
                </a:solidFill>
              </a:rPr>
              <a:t>0.5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6080760"/>
            <a:ext cx="5486400" cy="50292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7960" y="6126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⬆  Gain optimisation : 0.897 → 0.905 R²  (+0.8%)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5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457200"/>
            <a:ext cx="4114800" cy="4114800"/>
          </a:xfrm>
          <a:prstGeom prst="ellipse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0"/>
            <a:ext cx="2743200" cy="2743200"/>
          </a:xfrm>
          <a:prstGeom prst="ellipse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4572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5577840" cy="192024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54864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✅ Objectif atteint — R² = 0.905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Gradient Boosting optimisé prédit les prix
avec une précision de 90.5% (±$12K sur $163K médian)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54680"/>
            <a:ext cx="5577840" cy="3337560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Bilan des Modèles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✅ Gradient Boosting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03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R²=0.905 · Meilleur modèle · Retenu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✅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06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R²=0.872 · Robuste · Retenu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✅ Lasso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709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R²=0.871 · Sélection features · Retenu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❌ 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212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R²=0.865 · Écarté → voir draft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❌ Decision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7150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R²=0.762 · Overfitting · Écarté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097280"/>
            <a:ext cx="5486400" cy="5394960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097280"/>
            <a:ext cx="54864" cy="5394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Perspectives d'Amélioration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1737360"/>
            <a:ext cx="5029200" cy="74980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18105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▸  XGBoost / LightGBM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1214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Algorithmes de boosting avancés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2606040"/>
            <a:ext cx="5029200" cy="74980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679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▸  Stacking / Blending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9900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Combinaison de plusieurs modèles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474720"/>
            <a:ext cx="5029200" cy="74980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35478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▸  Deep Learning (MLP)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858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Réseau de neurones pour régression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20840" y="4343400"/>
            <a:ext cx="5029200" cy="74980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416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▸  Données supplémentaires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7274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Enrichir avec données géo/macro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5212080"/>
            <a:ext cx="5029200" cy="749808"/>
          </a:xfrm>
          <a:prstGeom prst="rect">
            <a:avLst/>
          </a:prstGeom>
          <a:solidFill>
            <a:srgbClr val="0F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52852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▸  API de prédiction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5961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Déploiement FastAPI + Streamlit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6492240"/>
            <a:ext cx="11292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House Price Prediction · Ames, Iowa · Machine Learning · Avril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37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A34A"/>
                </a:solidFill>
              </a:rPr>
              <a:t>R² = 0.905 · Gradient Boosting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