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5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560320" cy="411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MACHINE LEARNING · AVRIL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7315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</a:rPr>
              <a:t>House 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 i="0">
                <a:solidFill>
                  <a:srgbClr val="2563EB"/>
                </a:solidFill>
              </a:rPr>
              <a:t>Prediction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49039"/>
            <a:ext cx="8229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 err="1">
                <a:solidFill>
                  <a:srgbClr val="94A3B8"/>
                </a:solidFill>
              </a:rPr>
              <a:t>Prédiction</a:t>
            </a:r>
            <a:r>
              <a:rPr sz="1600" b="0" i="0" dirty="0">
                <a:solidFill>
                  <a:srgbClr val="94A3B8"/>
                </a:solidFill>
              </a:rPr>
              <a:t> du prix de vente de maisons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51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</a:rPr>
              <a:t>Pipeline End-to-End : EDA → Preprocessing → Feature Engineering → 3 Modèles → Optimisation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754880"/>
            <a:ext cx="457200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49377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[Votre Nom] · Machine Learning · [Institution]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0" y="5029200"/>
            <a:ext cx="2286000" cy="1280160"/>
          </a:xfrm>
          <a:prstGeom prst="rect">
            <a:avLst/>
          </a:prstGeom>
          <a:solidFill>
            <a:srgbClr val="0F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0" y="516636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6A34A"/>
                </a:solidFill>
              </a:rPr>
              <a:t>0.905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58064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</a:rPr>
              <a:t>R² Score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0" y="3474720"/>
            <a:ext cx="2286000" cy="1280160"/>
          </a:xfrm>
          <a:prstGeom prst="rect">
            <a:avLst/>
          </a:prstGeom>
          <a:solidFill>
            <a:srgbClr val="0F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0" y="36118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563EB"/>
                </a:solidFill>
              </a:rPr>
              <a:t>1 460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42519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</a:rPr>
              <a:t>Maisons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5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Problématique &amp;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36576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1143000"/>
            <a:ext cx="5303520" cy="5303520"/>
          </a:xfrm>
          <a:prstGeom prst="rect">
            <a:avLst/>
          </a:prstGeom>
          <a:solidFill>
            <a:srgbClr val="0F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563EB"/>
                </a:solidFill>
              </a:rPr>
              <a:t>❓ Problématique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</a:rPr>
              <a:t>Étant données les 80 caractéristiques d'une maison (surface, qualité, localisation, âge, équipements…), prédire son prix de vente final avec la meilleure précision possible.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🎯 Type de Problème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9184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  ▸  Régression supervisée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639312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  ▸  Target : SalePrice (en $)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86784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  ▸  Métrique principale : R² + RMSE (log)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4348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🔁 Approche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  ▸  Transformation log1p de la target (normalise la distribution)
  ▸  5 modèles testés → 3 retenus
  ▸  Optimisation RandomizedSearchCV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143000"/>
            <a:ext cx="5486400" cy="5303520"/>
          </a:xfrm>
          <a:prstGeom prst="rect">
            <a:avLst/>
          </a:prstGeom>
          <a:solidFill>
            <a:srgbClr val="0F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563EB"/>
                </a:solidFill>
              </a:rPr>
              <a:t>📊 Dataset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783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</a:rPr>
              <a:t>Source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7830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Kaggle — House Prices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35915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</a:rPr>
              <a:t>Auteur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35915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Dean De Cock (2011)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935224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</a:rPr>
              <a:t>Train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93522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1 460 maisons × 81 colonnes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511296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</a:rPr>
              <a:t>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511296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1 459 maisons × 80 colonnes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087368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</a:rPr>
              <a:t>Target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408736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SalePrice (prix de vente $)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663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</a:rPr>
              <a:t>Features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46634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80 variables (num. + catég.)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23951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</a:rPr>
              <a:t>Manquantes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523951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19 colonnes avec NaN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5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Pipeline Machine Learning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45720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1188720"/>
            <a:ext cx="5212080" cy="1508760"/>
          </a:xfrm>
          <a:prstGeom prst="rect">
            <a:avLst/>
          </a:prstGeom>
          <a:solidFill>
            <a:srgbClr val="0F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50392" y="1444752"/>
            <a:ext cx="50292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0392" y="144475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37160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EDA &amp; Exploration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783080"/>
            <a:ext cx="4297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Distribution, corrélations, valeurs manquantes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880360"/>
            <a:ext cx="5212080" cy="1508760"/>
          </a:xfrm>
          <a:prstGeom prst="rect">
            <a:avLst/>
          </a:prstGeom>
          <a:solidFill>
            <a:srgbClr val="0F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50392" y="3136392"/>
            <a:ext cx="50292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0392" y="313639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06324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Preprocessing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474720"/>
            <a:ext cx="4297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Imputation contextuelle, médiane, mode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572000"/>
            <a:ext cx="5212080" cy="1508760"/>
          </a:xfrm>
          <a:prstGeom prst="rect">
            <a:avLst/>
          </a:prstGeom>
          <a:solidFill>
            <a:srgbClr val="0F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50392" y="4828032"/>
            <a:ext cx="50292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0392" y="482803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75488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Feature Engineering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5166360"/>
            <a:ext cx="4297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11 nouvelles features créées (TotalSF, QualitySF…)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1188720"/>
            <a:ext cx="5212080" cy="1508760"/>
          </a:xfrm>
          <a:prstGeom prst="rect">
            <a:avLst/>
          </a:prstGeom>
          <a:solidFill>
            <a:srgbClr val="0F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73952" y="1444752"/>
            <a:ext cx="50292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73952" y="144475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137160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Encodage &amp; Scaling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1783080"/>
            <a:ext cx="4297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Ordinal + One-Hot + StandardScaler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2880360"/>
            <a:ext cx="5212080" cy="1508760"/>
          </a:xfrm>
          <a:prstGeom prst="rect">
            <a:avLst/>
          </a:prstGeom>
          <a:solidFill>
            <a:srgbClr val="0F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73952" y="3136392"/>
            <a:ext cx="502920" cy="5029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73952" y="313639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306324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Modélisation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3474720"/>
            <a:ext cx="4297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5 modèles testés → 3 retenus (drafts pour 2 écartés)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4572000"/>
            <a:ext cx="5212080" cy="1508760"/>
          </a:xfrm>
          <a:prstGeom prst="rect">
            <a:avLst/>
          </a:prstGeom>
          <a:solidFill>
            <a:srgbClr val="0F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473952" y="4828032"/>
            <a:ext cx="502920" cy="5029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73952" y="482803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75488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 err="1">
                <a:solidFill>
                  <a:srgbClr val="FFFFFF"/>
                </a:solidFill>
              </a:rPr>
              <a:t>Optimisation</a:t>
            </a:r>
            <a:endParaRPr sz="1400" b="1" i="0" dirty="0">
              <a:solidFill>
                <a:srgbClr val="FFFFFF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086600" y="5166360"/>
            <a:ext cx="4297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RandomizedSearchCV · 40 iter · 5-Fold CV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064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563EB"/>
                </a:solidFill>
              </a:rPr>
              <a:t>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5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</a:rPr>
              <a:t>11 nouvelles features créées pour améliorer les performances des modèles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45720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1463040"/>
            <a:ext cx="2011680" cy="34747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146304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1463040"/>
            <a:ext cx="4754880" cy="34747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07792" y="146304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Description / Calcul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1463040"/>
            <a:ext cx="1097280" cy="34747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54112" y="146304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Rang Imp.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69680" y="1463040"/>
            <a:ext cx="1097280" cy="34747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42832" y="146304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Importance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810512"/>
            <a:ext cx="10561320" cy="429768"/>
          </a:xfrm>
          <a:prstGeom prst="rect">
            <a:avLst/>
          </a:prstGeom>
          <a:solidFill>
            <a:srgbClr val="0F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8952" y="18836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</a:rPr>
              <a:t>TotalSF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1883664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TotalBsmtSF + 1stFlrSF + 2ndFlrSF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1883664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6A34A"/>
                </a:solidFill>
              </a:rPr>
              <a:t>#2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1883664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6A34A"/>
                </a:solidFill>
              </a:rPr>
              <a:t>11.8%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240280"/>
            <a:ext cx="10561320" cy="429768"/>
          </a:xfrm>
          <a:prstGeom prst="rect">
            <a:avLst/>
          </a:prstGeom>
          <a:solidFill>
            <a:srgbClr val="08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58952" y="231343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</a:rPr>
              <a:t>QualitySF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2313432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OverallQual × GrLivArea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2313432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6A34A"/>
                </a:solidFill>
              </a:rPr>
              <a:t>#4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2313432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6A34A"/>
                </a:solidFill>
              </a:rPr>
              <a:t>8.2%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2670048"/>
            <a:ext cx="10561320" cy="429768"/>
          </a:xfrm>
          <a:prstGeom prst="rect">
            <a:avLst/>
          </a:prstGeom>
          <a:solidFill>
            <a:srgbClr val="0F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58952" y="274320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TotalBathrooms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40" y="2743200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Somme pondérée des salles de bain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2743200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6A34A"/>
                </a:solidFill>
              </a:rPr>
              <a:t>Top10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2743200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6A34A"/>
                </a:solidFill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3099816"/>
            <a:ext cx="10561320" cy="429768"/>
          </a:xfrm>
          <a:prstGeom prst="rect">
            <a:avLst/>
          </a:prstGeom>
          <a:solidFill>
            <a:srgbClr val="08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58952" y="317296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HouseAge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40" y="3172968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YrSold − YearBuilt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3172968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6A34A"/>
                </a:solidFill>
              </a:rPr>
              <a:t>Top10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3172968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6A34A"/>
                </a:solidFill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3529584"/>
            <a:ext cx="10561320" cy="429768"/>
          </a:xfrm>
          <a:prstGeom prst="rect">
            <a:avLst/>
          </a:prstGeom>
          <a:solidFill>
            <a:srgbClr val="0F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8952" y="360273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RemodAge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360273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YrSold − YearRemodAdd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0" y="3602736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Top15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69680" y="3602736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3959352"/>
            <a:ext cx="10561320" cy="429768"/>
          </a:xfrm>
          <a:prstGeom prst="rect">
            <a:avLst/>
          </a:prstGeom>
          <a:solidFill>
            <a:srgbClr val="08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58952" y="403250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HasPool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34640" y="4032504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Binaire : présence de piscine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80960" y="4032504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69680" y="4032504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5800" y="4389120"/>
            <a:ext cx="10561320" cy="429768"/>
          </a:xfrm>
          <a:prstGeom prst="rect">
            <a:avLst/>
          </a:prstGeom>
          <a:solidFill>
            <a:srgbClr val="0F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58952" y="446227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HasGarage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34640" y="4462272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Binaire : présence de garage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4462272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4462272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5800" y="4818888"/>
            <a:ext cx="10561320" cy="429768"/>
          </a:xfrm>
          <a:prstGeom prst="rect">
            <a:avLst/>
          </a:prstGeom>
          <a:solidFill>
            <a:srgbClr val="08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58952" y="489204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HasBasement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34640" y="4892040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Binaire : présence de sous-sol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0" y="4892040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69680" y="4892040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5800" y="5248656"/>
            <a:ext cx="10561320" cy="429768"/>
          </a:xfrm>
          <a:prstGeom prst="rect">
            <a:avLst/>
          </a:prstGeom>
          <a:solidFill>
            <a:srgbClr val="0F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58952" y="532180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HasFireplace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34640" y="5321808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Binaire : présence de cheminée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80960" y="5321808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69680" y="5321808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85800" y="5678424"/>
            <a:ext cx="10561320" cy="429768"/>
          </a:xfrm>
          <a:prstGeom prst="rect">
            <a:avLst/>
          </a:prstGeom>
          <a:solidFill>
            <a:srgbClr val="08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58952" y="575157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Remodeled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834640" y="575157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Binaire : rénovation effectuée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0" y="5751576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69680" y="5751576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85800" y="6108192"/>
            <a:ext cx="10561320" cy="429768"/>
          </a:xfrm>
          <a:prstGeom prst="rect">
            <a:avLst/>
          </a:prstGeom>
          <a:solidFill>
            <a:srgbClr val="0F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758952" y="618134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NeighScore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834640" y="6181344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</a:rPr>
              <a:t>Score qualitatif du quartier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6181344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Top15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69680" y="6181344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5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Comparaison des Modèles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</a:rPr>
              <a:t>3 modèles retenus sur 5 testés · 2 écartés documentés dans les notebooks de brouillon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54864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1463040"/>
            <a:ext cx="3200400" cy="4114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Modèle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886200" y="1463040"/>
            <a:ext cx="2286000" cy="4114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977640" y="14630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Famille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463040"/>
            <a:ext cx="1645920" cy="4114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63640" y="14630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CV RMSE 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18120" y="1463040"/>
            <a:ext cx="1645920" cy="4114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09560" y="14630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Val R² 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64040" y="1463040"/>
            <a:ext cx="1645920" cy="4114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555480" y="14630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Val MAE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1874520"/>
            <a:ext cx="10424160" cy="777240"/>
          </a:xfrm>
          <a:prstGeom prst="rect">
            <a:avLst/>
          </a:prstGeom>
          <a:solidFill>
            <a:srgbClr val="0A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85800" y="1874520"/>
            <a:ext cx="54864" cy="7772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205740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A34A"/>
                </a:solidFill>
              </a:rPr>
              <a:t>🚀 Gradient Boosting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205740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Ensemble · Boosting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05740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0.118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205740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6A34A"/>
                </a:solidFill>
              </a:rPr>
              <a:t>0.905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205740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0.082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35640" y="21031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</a:rPr>
              <a:t>🏆 BEST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2651760"/>
            <a:ext cx="10424160" cy="777240"/>
          </a:xfrm>
          <a:prstGeom prst="rect">
            <a:avLst/>
          </a:prstGeom>
          <a:solidFill>
            <a:srgbClr val="0F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283464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📐 Lasso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283464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Linéaire · L1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283464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0.130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80" y="283464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0.871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283464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0.090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3429000"/>
            <a:ext cx="10424160" cy="777240"/>
          </a:xfrm>
          <a:prstGeom prst="rect">
            <a:avLst/>
          </a:prstGeom>
          <a:solidFill>
            <a:srgbClr val="0F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2960" y="361188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🌲 Random Forest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23360" y="361188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Ensemble · Bagging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361188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0.138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80" y="361188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0.872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361188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0.094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977639"/>
            <a:ext cx="11064240" cy="2560320"/>
          </a:xfrm>
          <a:prstGeom prst="rect">
            <a:avLst/>
          </a:prstGeom>
          <a:solidFill>
            <a:srgbClr val="1A10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85800" y="3977639"/>
            <a:ext cx="54864" cy="2560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4400" y="409651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</a:rPr>
              <a:t>⚠️  Modèles Écartés — Documentés dans notebooks/drafts/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5262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❌  Ridge Regression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0" y="4526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CV RMSE=0.135 · R²=0.865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4526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BBF24"/>
                </a:solidFill>
              </a:rPr>
              <a:t>Lasso meilleur : sélection automatique de features + R² supérieur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52578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❌  Decision Tree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0" y="5257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CV RMSE=0.201 · R²=0.762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0" y="52578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BBF24"/>
                </a:solidFill>
              </a:rPr>
              <a:t>Overfitting sévère · R² insuffisant (0.762) · CV RMSE = 0.201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5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Résultats Finaux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</a:rPr>
              <a:t>Gradient Boosting optimisé · RandomizedSearchCV · 5-Fold Cross-Validation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36576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743200" cy="1371600"/>
          </a:xfrm>
          <a:prstGeom prst="rect">
            <a:avLst/>
          </a:prstGeom>
          <a:solidFill>
            <a:srgbClr val="0F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508760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16A34A"/>
                </a:solidFill>
              </a:rPr>
              <a:t>0.905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</a:rPr>
              <a:t>R² Score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11880" y="1417320"/>
            <a:ext cx="2743200" cy="1371600"/>
          </a:xfrm>
          <a:prstGeom prst="rect">
            <a:avLst/>
          </a:prstGeom>
          <a:solidFill>
            <a:srgbClr val="0F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11880" y="1508760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2563EB"/>
                </a:solidFill>
              </a:rPr>
              <a:t>0.118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286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</a:rPr>
              <a:t>CV RMSE (log)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1417320"/>
            <a:ext cx="2743200" cy="1371600"/>
          </a:xfrm>
          <a:prstGeom prst="rect">
            <a:avLst/>
          </a:prstGeom>
          <a:solidFill>
            <a:srgbClr val="0F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508760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2563EB"/>
                </a:solidFill>
              </a:rPr>
              <a:t>0.118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286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</a:rPr>
              <a:t>Val RMSE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64040" y="1417320"/>
            <a:ext cx="2743200" cy="1371600"/>
          </a:xfrm>
          <a:prstGeom prst="rect">
            <a:avLst/>
          </a:prstGeom>
          <a:solidFill>
            <a:srgbClr val="0F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464040" y="1508760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</a:rPr>
              <a:t>0.082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2286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</a:rPr>
              <a:t>Val MAE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2926080"/>
            <a:ext cx="5486400" cy="3566160"/>
          </a:xfrm>
          <a:prstGeom prst="rect">
            <a:avLst/>
          </a:prstGeom>
          <a:solidFill>
            <a:srgbClr val="0F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3063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🔑 Feature Importance (Top 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5661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OverallQual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31720" y="3657600"/>
            <a:ext cx="2743200" cy="2011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148072" y="3566160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</a:rPr>
              <a:t>14.2%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023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TotalSF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31720" y="4114800"/>
            <a:ext cx="2279560" cy="2011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84432" y="4023360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</a:rPr>
              <a:t>11.8%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4805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GrLivArea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31720" y="4572000"/>
            <a:ext cx="1893194" cy="2011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298066" y="4480560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</a:rPr>
              <a:t>9.8%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49377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QualitySF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5029200"/>
            <a:ext cx="1584101" cy="2011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988973" y="4937760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</a:rPr>
              <a:t>8.2%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5394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YearBuilt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31720" y="5486400"/>
            <a:ext cx="1371600" cy="201168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776472" y="5394960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</a:rPr>
              <a:t>7.1%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58521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GarageCars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31720" y="5943600"/>
            <a:ext cx="1120461" cy="201168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525333" y="5852160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</a:rPr>
              <a:t>5.8%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926080"/>
            <a:ext cx="5486400" cy="3566160"/>
          </a:xfrm>
          <a:prstGeom prst="rect">
            <a:avLst/>
          </a:prstGeom>
          <a:solidFill>
            <a:srgbClr val="0F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583680" y="3063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⚙️ Hyperparamètres Optimaux (GB)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37960" y="3566160"/>
            <a:ext cx="5120640" cy="365760"/>
          </a:xfrm>
          <a:prstGeom prst="rect">
            <a:avLst/>
          </a:prstGeom>
          <a:solidFill>
            <a:srgbClr val="08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75120" y="361188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n_estimators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0" y="361188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</a:rPr>
              <a:t>300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37960" y="4023360"/>
            <a:ext cx="5120640" cy="365760"/>
          </a:xfrm>
          <a:prstGeom prst="rect">
            <a:avLst/>
          </a:prstGeom>
          <a:solidFill>
            <a:srgbClr val="08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675120" y="406908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learning_rate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0" y="406908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</a:rPr>
              <a:t>0.05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37960" y="4480560"/>
            <a:ext cx="5120640" cy="365760"/>
          </a:xfrm>
          <a:prstGeom prst="rect">
            <a:avLst/>
          </a:prstGeom>
          <a:solidFill>
            <a:srgbClr val="08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675120" y="452628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max_depth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01200" y="452628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</a:rPr>
              <a:t>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37960" y="4937760"/>
            <a:ext cx="5120640" cy="365760"/>
          </a:xfrm>
          <a:prstGeom prst="rect">
            <a:avLst/>
          </a:prstGeom>
          <a:solidFill>
            <a:srgbClr val="08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675120" y="498348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subsample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498348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</a:rPr>
              <a:t>0.8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37960" y="5394960"/>
            <a:ext cx="5120640" cy="365760"/>
          </a:xfrm>
          <a:prstGeom prst="rect">
            <a:avLst/>
          </a:prstGeom>
          <a:solidFill>
            <a:srgbClr val="08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675120" y="544068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min_samples_split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544068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</a:rPr>
              <a:t>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37960" y="5852160"/>
            <a:ext cx="5120640" cy="365760"/>
          </a:xfrm>
          <a:prstGeom prst="rect">
            <a:avLst/>
          </a:prstGeom>
          <a:solidFill>
            <a:srgbClr val="08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675120" y="589788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max_features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01200" y="589788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</a:rPr>
              <a:t>0.5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0800" y="6080760"/>
            <a:ext cx="5486400" cy="502920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537960" y="61264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6A34A"/>
                </a:solidFill>
              </a:rPr>
              <a:t>⬆  Gain optimisation : 0.897 → 0.905 R²  (+0.8%)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5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686800" y="4572000"/>
            <a:ext cx="2743200" cy="2743200"/>
          </a:xfrm>
          <a:prstGeom prst="ellipse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Conclusion &amp; Perspectives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60120"/>
            <a:ext cx="45720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097280"/>
            <a:ext cx="5577840" cy="1920240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097280"/>
            <a:ext cx="54864" cy="19202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11887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6A34A"/>
                </a:solidFill>
              </a:rPr>
              <a:t>✅ Objectif atteint — R² = 0.905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600200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Gradient Boosting optimisé prédit les prix
avec une précision de 90.5% (±$12K sur $163K médian)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154680"/>
            <a:ext cx="5577840" cy="3337560"/>
          </a:xfrm>
          <a:prstGeom prst="rect">
            <a:avLst/>
          </a:prstGeom>
          <a:solidFill>
            <a:srgbClr val="0F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2918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📊 Bilan des Modèles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</a:rPr>
              <a:t>✅ Gradient Boosting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70332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</a:rPr>
              <a:t>R²=0.905 · Meilleur modèle · Retenu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062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</a:rPr>
              <a:t>✅ Random Forest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42062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</a:rPr>
              <a:t>R²=0.872 · Robuste · Retenu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7091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</a:rPr>
              <a:t>✅ Lasso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470916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</a:rPr>
              <a:t>R²=0.871 · Sélection features · Retenu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120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</a:rPr>
              <a:t>❌ Ridge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521208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</a:rPr>
              <a:t>R²=0.865 · Écarté → voir draft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7150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</a:rPr>
              <a:t>❌ Decision Tree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571500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</a:rPr>
              <a:t>R²=0.762 · Overfitting · Écarté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1097280"/>
            <a:ext cx="5486400" cy="5394960"/>
          </a:xfrm>
          <a:prstGeom prst="rect">
            <a:avLst/>
          </a:prstGeom>
          <a:solidFill>
            <a:srgbClr val="0A1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92240" y="1097280"/>
            <a:ext cx="54864" cy="5394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2084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🚀 Perspectives d'Amélioration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20840" y="1737360"/>
            <a:ext cx="5029200" cy="749808"/>
          </a:xfrm>
          <a:prstGeom prst="rect">
            <a:avLst/>
          </a:prstGeom>
          <a:solidFill>
            <a:srgbClr val="0F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903720" y="1810512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563EB"/>
                </a:solidFill>
              </a:rPr>
              <a:t>▸  XGBoost / LightGBM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212140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</a:rPr>
              <a:t>Algorithmes de boosting avancés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20840" y="2606040"/>
            <a:ext cx="5029200" cy="749808"/>
          </a:xfrm>
          <a:prstGeom prst="rect">
            <a:avLst/>
          </a:prstGeom>
          <a:solidFill>
            <a:srgbClr val="0F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903720" y="2679192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563EB"/>
                </a:solidFill>
              </a:rPr>
              <a:t>▸  Stacking / Blending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3720" y="299008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</a:rPr>
              <a:t>Combinaison de plusieurs modèles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20840" y="3474720"/>
            <a:ext cx="5029200" cy="749808"/>
          </a:xfrm>
          <a:prstGeom prst="rect">
            <a:avLst/>
          </a:prstGeom>
          <a:solidFill>
            <a:srgbClr val="0F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903720" y="3547872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563EB"/>
                </a:solidFill>
              </a:rPr>
              <a:t>▸  Deep Learning (MLP)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385876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</a:rPr>
              <a:t>Réseau de neurones pour régression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20840" y="4343400"/>
            <a:ext cx="5029200" cy="749808"/>
          </a:xfrm>
          <a:prstGeom prst="rect">
            <a:avLst/>
          </a:prstGeom>
          <a:solidFill>
            <a:srgbClr val="0F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903720" y="4416552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563EB"/>
                </a:solidFill>
              </a:rPr>
              <a:t>▸  Données supplémentaires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472744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</a:rPr>
              <a:t>Enrichir avec données géo/macro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720840" y="5212080"/>
            <a:ext cx="5029200" cy="749808"/>
          </a:xfrm>
          <a:prstGeom prst="rect">
            <a:avLst/>
          </a:prstGeom>
          <a:solidFill>
            <a:srgbClr val="0F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903720" y="5285232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563EB"/>
                </a:solidFill>
              </a:rPr>
              <a:t>▸  API de prédiction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559612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</a:rPr>
              <a:t>Déploiement FastAPI + Streamlit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6492240"/>
            <a:ext cx="1129284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8580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</a:rPr>
              <a:t>House Price Prediction · Ames, Iowa · Machine Learning · Avril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37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16A34A"/>
                </a:solidFill>
              </a:rPr>
              <a:t>R² = 0.905 · Gradient Boosting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695</Words>
  <Application>Microsoft Office PowerPoint</Application>
  <PresentationFormat>Widescreen</PresentationFormat>
  <Paragraphs>198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MESSELMANI Taha</cp:lastModifiedBy>
  <cp:revision>2</cp:revision>
  <dcterms:created xsi:type="dcterms:W3CDTF">2013-01-27T09:14:16Z</dcterms:created>
  <dcterms:modified xsi:type="dcterms:W3CDTF">2026-04-13T12:38:07Z</dcterms:modified>
  <cp:category/>
</cp:coreProperties>
</file>